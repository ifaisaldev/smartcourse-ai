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9144000"/>
  <p:notesSz cx="6858000" cy="9144000"/>
  <p:embeddedFontLst>
    <p:embeddedFont>
      <p:font typeface="Tahoma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3" roundtripDataSignature="AMtx7mjDUbuzWzE8vitQbkxRz7ObNcUx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Tahoma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Tahoma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0d95a556e_0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0d95a556e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0d95a556e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0d95a556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0d95a556e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0d95a556e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0d95a556e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0d95a556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0d95a556e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e0d95a556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0d95a556e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e0d95a556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0d95a556e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0d95a556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0d95a556e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e0d95a556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0d95a556e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e0d95a556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0d95a556e_0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e0d95a556e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body"/>
          </p:nvPr>
        </p:nvSpPr>
        <p:spPr>
          <a:xfrm>
            <a:off x="4572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302895" lvl="1" marL="914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2pPr>
            <a:lvl3pPr indent="-302895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2895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5pPr>
            <a:lvl6pPr indent="-302895" lvl="5" marL="2743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6pPr>
            <a:lvl7pPr indent="-302895" lvl="6" marL="3200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7pPr>
            <a:lvl8pPr indent="-302895" lvl="7" marL="3657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8pPr>
            <a:lvl9pPr indent="-302895" lvl="8" marL="4114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ctrTitle"/>
          </p:nvPr>
        </p:nvSpPr>
        <p:spPr>
          <a:xfrm>
            <a:off x="685800" y="167640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208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 rot="5400000">
            <a:off x="4800600" y="2209800"/>
            <a:ext cx="57150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 rot="5400000">
            <a:off x="609600" y="228600"/>
            <a:ext cx="57150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302895" lvl="1" marL="914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2pPr>
            <a:lvl3pPr indent="-302895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2895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5pPr>
            <a:lvl6pPr indent="-302895" lvl="5" marL="2743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6pPr>
            <a:lvl7pPr indent="-302895" lvl="6" marL="3200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7pPr>
            <a:lvl8pPr indent="-302895" lvl="7" marL="3657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8pPr>
            <a:lvl9pPr indent="-302895" lvl="8" marL="4114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" type="body"/>
          </p:nvPr>
        </p:nvSpPr>
        <p:spPr>
          <a:xfrm rot="5400000">
            <a:off x="2514600" y="-76200"/>
            <a:ext cx="41148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302895" lvl="1" marL="914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2pPr>
            <a:lvl3pPr indent="-302895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2895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5pPr>
            <a:lvl6pPr indent="-302895" lvl="5" marL="2743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6pPr>
            <a:lvl7pPr indent="-302895" lvl="6" marL="3200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7pPr>
            <a:lvl8pPr indent="-302895" lvl="7" marL="3657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8pPr>
            <a:lvl9pPr indent="-302895" lvl="8" marL="4114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7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9pPr>
          </a:lstStyle>
          <a:p/>
        </p:txBody>
      </p:sp>
      <p:sp>
        <p:nvSpPr>
          <p:cNvPr id="44" name="Google Shape;44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0680" lvl="0" marL="457200" algn="l">
              <a:spcBef>
                <a:spcPts val="640"/>
              </a:spcBef>
              <a:spcAft>
                <a:spcPts val="0"/>
              </a:spcAft>
              <a:buSzPts val="2080"/>
              <a:buChar char="■"/>
              <a:defRPr sz="3200"/>
            </a:lvl1pPr>
            <a:lvl2pPr indent="-344170" lvl="1" marL="914400" algn="l">
              <a:spcBef>
                <a:spcPts val="560"/>
              </a:spcBef>
              <a:spcAft>
                <a:spcPts val="0"/>
              </a:spcAft>
              <a:buSzPts val="1820"/>
              <a:buChar char="■"/>
              <a:defRPr sz="2800"/>
            </a:lvl2pPr>
            <a:lvl3pPr indent="-327660" lvl="2" marL="13716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4pPr>
            <a:lvl5pPr indent="-311150" lvl="4" marL="22860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5pPr>
            <a:lvl6pPr indent="-311150" lvl="5" marL="27432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6pPr>
            <a:lvl7pPr indent="-311150" lvl="6" marL="32004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7pPr>
            <a:lvl8pPr indent="-311150" lvl="7" marL="36576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8pPr>
            <a:lvl9pPr indent="-311150" lvl="8" marL="41148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9pPr>
          </a:lstStyle>
          <a:p/>
        </p:txBody>
      </p:sp>
      <p:sp>
        <p:nvSpPr>
          <p:cNvPr id="50" name="Google Shape;50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7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56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3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7660" lvl="0" marL="4572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1pPr>
            <a:lvl2pPr indent="-311150" lvl="1" marL="9144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2pPr>
            <a:lvl3pPr indent="-302895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indent="-294640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4pPr>
            <a:lvl5pPr indent="-294640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5pPr>
            <a:lvl6pPr indent="-294640" lvl="5" marL="27432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6pPr>
            <a:lvl7pPr indent="-294640" lvl="6" marL="32004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7pPr>
            <a:lvl8pPr indent="-294640" lvl="7" marL="36576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8pPr>
            <a:lvl9pPr indent="-294640" lvl="8" marL="41148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9pPr>
          </a:lstStyle>
          <a:p/>
        </p:txBody>
      </p:sp>
      <p:sp>
        <p:nvSpPr>
          <p:cNvPr id="62" name="Google Shape;62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56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3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9pPr>
          </a:lstStyle>
          <a:p/>
        </p:txBody>
      </p:sp>
      <p:sp>
        <p:nvSpPr>
          <p:cNvPr id="63" name="Google Shape;63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7660" lvl="0" marL="4572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1pPr>
            <a:lvl2pPr indent="-311150" lvl="1" marL="9144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2pPr>
            <a:lvl3pPr indent="-302895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indent="-294640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4pPr>
            <a:lvl5pPr indent="-294640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5pPr>
            <a:lvl6pPr indent="-294640" lvl="5" marL="27432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6pPr>
            <a:lvl7pPr indent="-294640" lvl="6" marL="32004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7pPr>
            <a:lvl8pPr indent="-294640" lvl="7" marL="36576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8pPr>
            <a:lvl9pPr indent="-294640" lvl="8" marL="41148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9pPr>
          </a:lstStyle>
          <a:p/>
        </p:txBody>
      </p:sp>
      <p:sp>
        <p:nvSpPr>
          <p:cNvPr id="64" name="Google Shape;64;p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7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7"/>
          <p:cNvSpPr txBox="1"/>
          <p:nvPr>
            <p:ph idx="1" type="body"/>
          </p:nvPr>
        </p:nvSpPr>
        <p:spPr>
          <a:xfrm>
            <a:off x="457200" y="1981200"/>
            <a:ext cx="4038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4170" lvl="0" marL="457200" algn="l">
              <a:spcBef>
                <a:spcPts val="560"/>
              </a:spcBef>
              <a:spcAft>
                <a:spcPts val="0"/>
              </a:spcAft>
              <a:buSzPts val="1820"/>
              <a:buChar char="■"/>
              <a:defRPr sz="2800"/>
            </a:lvl1pPr>
            <a:lvl2pPr indent="-327660" lvl="1" marL="9144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indent="-302895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5pPr>
            <a:lvl6pPr indent="-302895" lvl="5" marL="2743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6pPr>
            <a:lvl7pPr indent="-302895" lvl="6" marL="3200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7pPr>
            <a:lvl8pPr indent="-302895" lvl="7" marL="3657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8pPr>
            <a:lvl9pPr indent="-302895" lvl="8" marL="4114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9pPr>
          </a:lstStyle>
          <a:p/>
        </p:txBody>
      </p:sp>
      <p:sp>
        <p:nvSpPr>
          <p:cNvPr id="70" name="Google Shape;70;p27"/>
          <p:cNvSpPr txBox="1"/>
          <p:nvPr>
            <p:ph idx="2" type="body"/>
          </p:nvPr>
        </p:nvSpPr>
        <p:spPr>
          <a:xfrm>
            <a:off x="4648200" y="1981200"/>
            <a:ext cx="4038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4170" lvl="0" marL="457200" algn="l">
              <a:spcBef>
                <a:spcPts val="560"/>
              </a:spcBef>
              <a:spcAft>
                <a:spcPts val="0"/>
              </a:spcAft>
              <a:buSzPts val="1820"/>
              <a:buChar char="■"/>
              <a:defRPr sz="2800"/>
            </a:lvl1pPr>
            <a:lvl2pPr indent="-327660" lvl="1" marL="9144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indent="-302895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5pPr>
            <a:lvl6pPr indent="-302895" lvl="5" marL="2743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6pPr>
            <a:lvl7pPr indent="-302895" lvl="6" marL="3200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7pPr>
            <a:lvl8pPr indent="-302895" lvl="7" marL="3657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8pPr>
            <a:lvl9pPr indent="-302895" lvl="8" marL="4114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3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17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068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080"/>
              <a:buFont typeface="Noto Sans Symbols"/>
              <a:buChar char="■"/>
              <a:defRPr b="0" i="0" sz="32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4417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20"/>
              <a:buFont typeface="Noto Sans Symbols"/>
              <a:buChar char="■"/>
              <a:defRPr b="0" i="0" sz="2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2766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56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111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111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111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111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3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ctrTitle"/>
          </p:nvPr>
        </p:nvSpPr>
        <p:spPr>
          <a:xfrm>
            <a:off x="609600" y="1066800"/>
            <a:ext cx="8001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900"/>
              <a:buFont typeface="Tahoma"/>
              <a:buNone/>
            </a:pPr>
            <a:r>
              <a:rPr lang="en-US" sz="4800"/>
              <a:t>SmartCourse – AI Powered Course Recommendation System</a:t>
            </a:r>
            <a:endParaRPr sz="4800"/>
          </a:p>
        </p:txBody>
      </p:sp>
      <p:pic>
        <p:nvPicPr>
          <p:cNvPr descr="C:\Users\usman.waheed\Desktop\vulogo.jpg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1900" y="3810000"/>
            <a:ext cx="2014538" cy="146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457200" y="881375"/>
            <a:ext cx="8229600" cy="14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900"/>
              <a:buFont typeface="Tahoma"/>
              <a:buNone/>
            </a:pPr>
            <a:r>
              <a:rPr lang="en-US" sz="5900"/>
              <a:t>My </a:t>
            </a:r>
            <a:r>
              <a:rPr b="0" i="0" lang="en-US" sz="59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Introduction</a:t>
            </a:r>
            <a:endParaRPr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457200" y="2773675"/>
            <a:ext cx="82296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080"/>
              <a:buNone/>
            </a:pPr>
            <a:r>
              <a:rPr lang="en-US" sz="2600"/>
              <a:t>My name is Faisal Mehmood, and I am pursuing a BS in Computer Science at Virtual University of Pakistan. I have a strong interest in technology, software development, and modern digital solutions. I am passionate about learning new skills and improving my knowledge in the field of computer science to build a successful professional career.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ctrTitle"/>
          </p:nvPr>
        </p:nvSpPr>
        <p:spPr>
          <a:xfrm>
            <a:off x="762000" y="398775"/>
            <a:ext cx="7772400" cy="16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Tahoma"/>
              <a:buNone/>
            </a:pPr>
            <a:r>
              <a:rPr b="0" i="0" lang="en-US" sz="48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INTRODUCTION OF PROJECT</a:t>
            </a:r>
            <a:endParaRPr/>
          </a:p>
        </p:txBody>
      </p:sp>
      <p:sp>
        <p:nvSpPr>
          <p:cNvPr id="102" name="Google Shape;102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80"/>
              <a:buNone/>
            </a:pPr>
            <a:r>
              <a:rPr b="0" i="0" lang="en-US" sz="32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pic>
        <p:nvPicPr>
          <p:cNvPr id="103" name="Google Shape;1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305550"/>
            <a:ext cx="83820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 txBox="1"/>
          <p:nvPr/>
        </p:nvSpPr>
        <p:spPr>
          <a:xfrm>
            <a:off x="914400" y="2266963"/>
            <a:ext cx="75438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The Smart AI Powered Course Recommendation System is a web-based platform that recommends relevant online courses based on user interests expressed in natural language. It uses TF-IDF and Sentence-Transformer AI models to provide accurate keyword-based and semantic recommendations. The system displays top-ranked courses with relevance scores, course details, and save options through a Flask and Bootstrap-based interface. It also stores search history and saved courses using SQLite and SQLAlchemy ORM.</a:t>
            </a:r>
            <a:endParaRPr b="0" i="0" sz="2200" u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/>
        </p:nvSpPr>
        <p:spPr>
          <a:xfrm>
            <a:off x="1600200" y="1295400"/>
            <a:ext cx="4876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10" name="Google Shape;110;p5" title="vu_process_mode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5500" y="642599"/>
            <a:ext cx="5138375" cy="573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>
            <p:ph type="ctrTitle"/>
          </p:nvPr>
        </p:nvSpPr>
        <p:spPr>
          <a:xfrm>
            <a:off x="609600" y="3048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Use Case Diagram</a:t>
            </a:r>
            <a:endParaRPr/>
          </a:p>
        </p:txBody>
      </p:sp>
      <p:pic>
        <p:nvPicPr>
          <p:cNvPr id="116" name="Google Shape;116;p6" title="use_case_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125" y="1295400"/>
            <a:ext cx="6249345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>
            <p:ph type="ctrTitle"/>
          </p:nvPr>
        </p:nvSpPr>
        <p:spPr>
          <a:xfrm>
            <a:off x="685800" y="266700"/>
            <a:ext cx="77724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Business Rules Catalog</a:t>
            </a:r>
            <a:endParaRPr/>
          </a:p>
        </p:txBody>
      </p:sp>
      <p:sp>
        <p:nvSpPr>
          <p:cNvPr id="122" name="Google Shape;122;p7"/>
          <p:cNvSpPr txBox="1"/>
          <p:nvPr/>
        </p:nvSpPr>
        <p:spPr>
          <a:xfrm>
            <a:off x="254225" y="1574650"/>
            <a:ext cx="85215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BR-01: Empty queries are rejected (HTTP 400). (Input Validation)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BR-02: Maximum 10 course results per search. (Result Limit)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BR-03: Only courses with relevance score &gt; 0 are shown. (Relevant Results)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BR-04: Scores displayed as normalized percentages with progress bars. (Score Visualization)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BR-05: User must select TF-IDF, Neural, or Compare mode before search. (Mandatory Model Selection)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BR-06: Duplicate course saves in the same session are blocked (HTTP 409). (Duplicate Prevention)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BR-07: Every successful search is automatically logged. (Auto Logging)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BR-08: Dashboard displays latest 50 searches only. (History Limit)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BR-09: Saved courses remain grouped by search session. (Session Grouping)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BR-10: Compare mode stores one combined history record. (Unified Comparison Record)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120600" y="1020538"/>
            <a:ext cx="630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Business Rules Catalog (Core Engine)</a:t>
            </a:r>
            <a:endParaRPr b="1"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0d95a556e_0_98"/>
          <p:cNvSpPr txBox="1"/>
          <p:nvPr/>
        </p:nvSpPr>
        <p:spPr>
          <a:xfrm>
            <a:off x="234900" y="1013325"/>
            <a:ext cx="86742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BR-11: Saved courses persist even if history is deleted. (Save Persistence)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BR-12: Missing descriptions/ratings are auto-generated. (Data Integrity)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BR-13: TF-IDF uses cleaned and lemmatized text preprocessing. (Text Preprocessing)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BR-14: Neural model uses raw query text directly. (Raw Text Processing)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BR-15: Response SLA: TF-IDF ≤2s, Neural ≤5s. (Performance SLA)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BR-16: Models and embeddings load once at server startup. (Startup Optimization)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29" name="Google Shape;129;g3e0d95a556e_0_98"/>
          <p:cNvSpPr txBox="1"/>
          <p:nvPr/>
        </p:nvSpPr>
        <p:spPr>
          <a:xfrm>
            <a:off x="234900" y="358700"/>
            <a:ext cx="718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Business Rules Catalog (Data &amp; Persistence)</a:t>
            </a:r>
            <a:endParaRPr b="1"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ahoma"/>
              <a:buNone/>
            </a:pPr>
            <a:r>
              <a:rPr b="1" i="1" lang="en-US" sz="4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Architectural Design</a:t>
            </a:r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0" y="13858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36" name="Google Shape;136;p8" title="archite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95500"/>
            <a:ext cx="8839199" cy="2283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>
            <p:ph type="title"/>
          </p:nvPr>
        </p:nvSpPr>
        <p:spPr>
          <a:xfrm>
            <a:off x="457200" y="381000"/>
            <a:ext cx="82296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Project Schedule</a:t>
            </a:r>
            <a:endParaRPr/>
          </a:p>
        </p:txBody>
      </p:sp>
      <p:sp>
        <p:nvSpPr>
          <p:cNvPr id="142" name="Google Shape;142;p10"/>
          <p:cNvSpPr txBox="1"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43" name="Google Shape;143;p10" title="smartcourse_gantt_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82700"/>
            <a:ext cx="8842977" cy="497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/>
          <p:nvPr>
            <p:ph type="ctrTitle"/>
          </p:nvPr>
        </p:nvSpPr>
        <p:spPr>
          <a:xfrm>
            <a:off x="762000" y="224375"/>
            <a:ext cx="77724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Sequence Diagrams</a:t>
            </a:r>
            <a:endParaRPr/>
          </a:p>
        </p:txBody>
      </p:sp>
      <p:pic>
        <p:nvPicPr>
          <p:cNvPr id="149" name="Google Shape;149;p11" title="ppt_seq_recommend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6688" y="1049875"/>
            <a:ext cx="5490624" cy="549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g3e0d95a556e_0_79" title="ppt_seq_preprocess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9400" y="317400"/>
            <a:ext cx="6112924" cy="6112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g3e0d95a556e_0_74" title="ppt_seq_compare_model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3788" y="340788"/>
            <a:ext cx="6176425" cy="61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g3e0d95a556e_0_69" title="ppt_seq_save_cour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1900" y="292200"/>
            <a:ext cx="6265326" cy="6265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"/>
          <p:cNvSpPr txBox="1"/>
          <p:nvPr>
            <p:ph type="title"/>
          </p:nvPr>
        </p:nvSpPr>
        <p:spPr>
          <a:xfrm>
            <a:off x="533400" y="2667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Logical Model/Class Diagram</a:t>
            </a:r>
            <a:endParaRPr/>
          </a:p>
        </p:txBody>
      </p:sp>
      <p:sp>
        <p:nvSpPr>
          <p:cNvPr id="170" name="Google Shape;170;p12"/>
          <p:cNvSpPr txBox="1"/>
          <p:nvPr/>
        </p:nvSpPr>
        <p:spPr>
          <a:xfrm>
            <a:off x="0" y="1376362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71" name="Google Shape;171;p12" title="class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763" y="1092200"/>
            <a:ext cx="8094866" cy="552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 txBox="1"/>
          <p:nvPr/>
        </p:nvSpPr>
        <p:spPr>
          <a:xfrm>
            <a:off x="0" y="1776412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7" name="Google Shape;177;p13"/>
          <p:cNvSpPr txBox="1"/>
          <p:nvPr/>
        </p:nvSpPr>
        <p:spPr>
          <a:xfrm>
            <a:off x="0" y="50815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8" name="Google Shape;178;p13"/>
          <p:cNvSpPr txBox="1"/>
          <p:nvPr>
            <p:ph type="title"/>
          </p:nvPr>
        </p:nvSpPr>
        <p:spPr>
          <a:xfrm>
            <a:off x="533400" y="3810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Entity-Relationship Diagram</a:t>
            </a:r>
            <a:endParaRPr/>
          </a:p>
        </p:txBody>
      </p:sp>
      <p:pic>
        <p:nvPicPr>
          <p:cNvPr id="179" name="Google Shape;1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4400" y="1143000"/>
            <a:ext cx="4566846" cy="5410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"/>
          <p:cNvSpPr txBox="1"/>
          <p:nvPr>
            <p:ph type="ctrTitle"/>
          </p:nvPr>
        </p:nvSpPr>
        <p:spPr>
          <a:xfrm>
            <a:off x="609600" y="4572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Database Diagram</a:t>
            </a:r>
            <a:endParaRPr/>
          </a:p>
        </p:txBody>
      </p:sp>
      <p:pic>
        <p:nvPicPr>
          <p:cNvPr id="185" name="Google Shape;185;p14" title="database_desig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0975" y="1295400"/>
            <a:ext cx="4482059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 txBox="1"/>
          <p:nvPr>
            <p:ph type="ctrTitle"/>
          </p:nvPr>
        </p:nvSpPr>
        <p:spPr>
          <a:xfrm>
            <a:off x="685800" y="313275"/>
            <a:ext cx="77724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User Interfaces</a:t>
            </a:r>
            <a:endParaRPr/>
          </a:p>
        </p:txBody>
      </p:sp>
      <p:pic>
        <p:nvPicPr>
          <p:cNvPr id="191" name="Google Shape;191;p15" title="recommend_compa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800" y="990600"/>
            <a:ext cx="7696448" cy="408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g3e0d95a556e_0_30" title="recommend_neur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00" y="399925"/>
            <a:ext cx="8153398" cy="4592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g3e0d95a556e_0_25" title="recommend_tfid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269" y="299846"/>
            <a:ext cx="8390652" cy="4407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g3e0d95a556e_0_51" title="dashboard_sav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17500"/>
            <a:ext cx="8839198" cy="4643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g3e0d95a556e_0_46" title="dashboard_histo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9400"/>
            <a:ext cx="8839198" cy="4643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g3e0d95a556e_0_41" title="abo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58800"/>
            <a:ext cx="8839198" cy="3734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>
            <p:ph type="title"/>
          </p:nvPr>
        </p:nvSpPr>
        <p:spPr>
          <a:xfrm>
            <a:off x="457200" y="292100"/>
            <a:ext cx="82296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ahoma"/>
              <a:buNone/>
            </a:pPr>
            <a:r>
              <a:rPr lang="en-US"/>
              <a:t>Technology Stack &amp; Tools</a:t>
            </a:r>
            <a:endParaRPr/>
          </a:p>
        </p:txBody>
      </p:sp>
      <p:pic>
        <p:nvPicPr>
          <p:cNvPr id="222" name="Google Shape;22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0300" y="1060225"/>
            <a:ext cx="7090824" cy="527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0d95a556e_0_124"/>
          <p:cNvSpPr txBox="1"/>
          <p:nvPr>
            <p:ph type="title"/>
          </p:nvPr>
        </p:nvSpPr>
        <p:spPr>
          <a:xfrm>
            <a:off x="457200" y="2451100"/>
            <a:ext cx="8229600" cy="1371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xtured">
  <a:themeElements>
    <a:clrScheme name="Textured 5">
      <a:dk1>
        <a:srgbClr val="003366"/>
      </a:dk1>
      <a:lt1>
        <a:srgbClr val="FFFFFF"/>
      </a:lt1>
      <a:dk2>
        <a:srgbClr val="2B5481"/>
      </a:dk2>
      <a:lt2>
        <a:srgbClr val="E5FFFF"/>
      </a:lt2>
      <a:accent1>
        <a:srgbClr val="009999"/>
      </a:accent1>
      <a:accent2>
        <a:srgbClr val="336699"/>
      </a:accent2>
      <a:accent3>
        <a:srgbClr val="ACB3C1"/>
      </a:accent3>
      <a:accent4>
        <a:srgbClr val="DADADA"/>
      </a:accent4>
      <a:accent5>
        <a:srgbClr val="AACACA"/>
      </a:accent5>
      <a:accent6>
        <a:srgbClr val="2D5C8A"/>
      </a:accent6>
      <a:hlink>
        <a:srgbClr val="00CCFF"/>
      </a:hlink>
      <a:folHlink>
        <a:srgbClr val="FF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2007-02-24T01:41:18Z</dcterms:created>
  <dc:creator>MUHAMMAD HARIS SIDDIQUI</dc:creator>
</cp:coreProperties>
</file>